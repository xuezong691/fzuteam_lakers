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8" r:id="rId4"/>
    <p:sldId id="266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68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1.png"/><Relationship Id="rId21" Type="http://schemas.openxmlformats.org/officeDocument/2006/relationships/image" Target="../media/image55.png"/><Relationship Id="rId34" Type="http://schemas.openxmlformats.org/officeDocument/2006/relationships/image" Target="../media/image1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8.png"/><Relationship Id="rId8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1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11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11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.png"/><Relationship Id="rId21" Type="http://schemas.openxmlformats.org/officeDocument/2006/relationships/image" Target="../media/image118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5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24" Type="http://schemas.openxmlformats.org/officeDocument/2006/relationships/image" Target="../media/image121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120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9.png"/><Relationship Id="rId18" Type="http://schemas.openxmlformats.org/officeDocument/2006/relationships/image" Target="../media/image123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12" Type="http://schemas.openxmlformats.org/officeDocument/2006/relationships/image" Target="../media/image109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17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16.png"/><Relationship Id="rId4" Type="http://schemas.openxmlformats.org/officeDocument/2006/relationships/image" Target="../media/image11.png"/><Relationship Id="rId9" Type="http://schemas.openxmlformats.org/officeDocument/2006/relationships/image" Target="../media/image106.png"/><Relationship Id="rId1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7625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41910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95250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4514850"/>
            <a:ext cx="9525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725" y="5657850"/>
            <a:ext cx="3619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4025" y="565785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5657850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3763" y="5657850"/>
            <a:ext cx="219075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20550" y="6610350"/>
            <a:ext cx="114300" cy="1905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096000" y="676275"/>
            <a:ext cx="0" cy="885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b="1" kern="0" spc="24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6000" dirty="0"/>
          </a:p>
        </p:txBody>
      </p:sp>
      <p:sp>
        <p:nvSpPr>
          <p:cNvPr id="13" name="Text 1"/>
          <p:cNvSpPr/>
          <p:nvPr/>
        </p:nvSpPr>
        <p:spPr>
          <a:xfrm>
            <a:off x="3187065" y="1609725"/>
            <a:ext cx="576072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b="1" kern="0" spc="24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落山基唬人队</a:t>
            </a:r>
            <a:endParaRPr lang="en-US" sz="6000" dirty="0"/>
          </a:p>
        </p:txBody>
      </p:sp>
      <p:sp>
        <p:nvSpPr>
          <p:cNvPr id="14" name="Text 2"/>
          <p:cNvSpPr/>
          <p:nvPr/>
        </p:nvSpPr>
        <p:spPr>
          <a:xfrm>
            <a:off x="3196590" y="2962275"/>
            <a:ext cx="576072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b="1" kern="0" spc="24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6000" dirty="0"/>
          </a:p>
        </p:txBody>
      </p:sp>
      <p:sp>
        <p:nvSpPr>
          <p:cNvPr id="15" name="Text 3"/>
          <p:cNvSpPr/>
          <p:nvPr/>
        </p:nvSpPr>
        <p:spPr>
          <a:xfrm>
            <a:off x="3215640" y="4781550"/>
            <a:ext cx="5760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项目进度、问题解决与架构设计分享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4472940" y="607695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团队分工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5311140" y="607695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计划进度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6149340" y="607695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6987540" y="607695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测试情况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12077700" y="663892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505" y="423863"/>
            <a:ext cx="10103495" cy="95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24049"/>
            <a:ext cx="10972800" cy="405765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24050"/>
            <a:ext cx="109728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463588"/>
            <a:ext cx="109728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28950"/>
            <a:ext cx="109728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600450"/>
            <a:ext cx="109728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876" y="4194069"/>
            <a:ext cx="109728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3150" y="6134100"/>
            <a:ext cx="11430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100" y="6115050"/>
            <a:ext cx="13335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38125"/>
            <a:ext cx="140892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分工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990600" y="1314450"/>
            <a:ext cx="1066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2" name="Text 2"/>
          <p:cNvSpPr/>
          <p:nvPr/>
        </p:nvSpPr>
        <p:spPr>
          <a:xfrm>
            <a:off x="762000" y="2076450"/>
            <a:ext cx="34543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成员姓名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2564011" y="2063538"/>
            <a:ext cx="345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负责模块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975550" y="2076450"/>
            <a:ext cx="34543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066800" y="2628900"/>
            <a:ext cx="4909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薛刚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4368701" y="2609850"/>
            <a:ext cx="3454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975550" y="260985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ai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聊天模块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图表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066800" y="3200400"/>
            <a:ext cx="4913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汤健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4368701" y="3181350"/>
            <a:ext cx="3454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7975550" y="318135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后端注册登录模块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前端合并会议模块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1066800" y="3771900"/>
            <a:ext cx="4934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廖云峻</a:t>
            </a:r>
            <a:endParaRPr lang="en-US" sz="1200" dirty="0">
              <a:solidFill>
                <a:srgbClr val="D1D5DB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368701" y="3752850"/>
            <a:ext cx="3454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7975550" y="375285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后端待办事项管理模块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ppt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制作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1066800" y="4343400"/>
            <a:ext cx="5066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许敬豪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4368701" y="4324350"/>
            <a:ext cx="3454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7975550" y="432435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后端团队管理模块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剪辑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10153650" y="60960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待分配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10915650" y="609600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技术栈信息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11367790" y="65532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11442650" y="6610350"/>
            <a:ext cx="899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DD654B87-618A-F1DD-E088-4BEF71D2BC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26" y="5372100"/>
            <a:ext cx="10972800" cy="571500"/>
          </a:xfrm>
          <a:prstGeom prst="rect">
            <a:avLst/>
          </a:prstGeom>
        </p:spPr>
      </p:pic>
      <p:pic>
        <p:nvPicPr>
          <p:cNvPr id="45" name="Image 13" descr="preencoded.png">
            <a:extLst>
              <a:ext uri="{FF2B5EF4-FFF2-40B4-BE49-F238E27FC236}">
                <a16:creationId xmlns:a16="http://schemas.microsoft.com/office/drawing/2014/main" id="{60FFF926-6A37-D743-724A-F1A55387E4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26" y="4778481"/>
            <a:ext cx="10972800" cy="571500"/>
          </a:xfrm>
          <a:prstGeom prst="rect">
            <a:avLst/>
          </a:prstGeom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B9C571D-DF71-8CFD-ADAF-30BD51080CAE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6095926" y="1924049"/>
            <a:ext cx="0" cy="4019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2E0489B-7345-99D5-277B-E65B5822E977}"/>
              </a:ext>
            </a:extLst>
          </p:cNvPr>
          <p:cNvCxnSpPr>
            <a:cxnSpLocks/>
          </p:cNvCxnSpPr>
          <p:nvPr/>
        </p:nvCxnSpPr>
        <p:spPr>
          <a:xfrm>
            <a:off x="2136594" y="1924050"/>
            <a:ext cx="0" cy="4019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96F0E01-C1E7-AC18-1896-9C5F16282C31}"/>
              </a:ext>
            </a:extLst>
          </p:cNvPr>
          <p:cNvCxnSpPr>
            <a:cxnSpLocks/>
          </p:cNvCxnSpPr>
          <p:nvPr/>
        </p:nvCxnSpPr>
        <p:spPr>
          <a:xfrm>
            <a:off x="7475709" y="1925519"/>
            <a:ext cx="0" cy="4019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2">
            <a:extLst>
              <a:ext uri="{FF2B5EF4-FFF2-40B4-BE49-F238E27FC236}">
                <a16:creationId xmlns:a16="http://schemas.microsoft.com/office/drawing/2014/main" id="{D16C6C64-9703-2C55-4A32-F4055BBF96DA}"/>
              </a:ext>
            </a:extLst>
          </p:cNvPr>
          <p:cNvSpPr/>
          <p:nvPr/>
        </p:nvSpPr>
        <p:spPr>
          <a:xfrm>
            <a:off x="6210933" y="2044806"/>
            <a:ext cx="34543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成员姓名</a:t>
            </a:r>
            <a:endParaRPr lang="en-US" sz="1200" dirty="0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0C1870C8-76A9-0CA7-C1DE-A4AD588A3A3A}"/>
              </a:ext>
            </a:extLst>
          </p:cNvPr>
          <p:cNvSpPr/>
          <p:nvPr/>
        </p:nvSpPr>
        <p:spPr>
          <a:xfrm>
            <a:off x="8012944" y="2031894"/>
            <a:ext cx="345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负责模块</a:t>
            </a:r>
            <a:endParaRPr lang="en-US" sz="12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BC99EF05-B4BE-EFA4-4A25-8F041B9ABC1A}"/>
              </a:ext>
            </a:extLst>
          </p:cNvPr>
          <p:cNvSpPr/>
          <p:nvPr/>
        </p:nvSpPr>
        <p:spPr>
          <a:xfrm>
            <a:off x="2564160" y="258198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后端大模型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api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接口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api</a:t>
            </a:r>
            <a:endParaRPr lang="en-US" sz="12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B6624A97-777A-C500-35E7-C3E0171A51F8}"/>
              </a:ext>
            </a:extLst>
          </p:cNvPr>
          <p:cNvSpPr/>
          <p:nvPr/>
        </p:nvSpPr>
        <p:spPr>
          <a:xfrm>
            <a:off x="7975550" y="4887029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后端任务匹配算法模块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文档</a:t>
            </a:r>
            <a:endParaRPr lang="en-US" sz="120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1B40552A-0A1C-9421-D498-A3BA727EBA7C}"/>
              </a:ext>
            </a:extLst>
          </p:cNvPr>
          <p:cNvSpPr/>
          <p:nvPr/>
        </p:nvSpPr>
        <p:spPr>
          <a:xfrm>
            <a:off x="7975550" y="548640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flask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endParaRPr lang="en-US" sz="1200" dirty="0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4B3C86B7-9B6D-B776-D0D9-FF6ED06003C5}"/>
              </a:ext>
            </a:extLst>
          </p:cNvPr>
          <p:cNvSpPr/>
          <p:nvPr/>
        </p:nvSpPr>
        <p:spPr>
          <a:xfrm>
            <a:off x="2544179" y="3746712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前端会议处理模块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后端团队管理模块</a:t>
            </a:r>
            <a:endParaRPr lang="en-US" sz="12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418E10BD-FD9B-D491-C349-87B21A31B6AA}"/>
              </a:ext>
            </a:extLst>
          </p:cNvPr>
          <p:cNvSpPr/>
          <p:nvPr/>
        </p:nvSpPr>
        <p:spPr>
          <a:xfrm>
            <a:off x="2526619" y="5478473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前端团队管理模块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测试</a:t>
            </a:r>
            <a:endParaRPr lang="en-US" sz="1200" dirty="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0620DAD4-A7B5-BF2B-1436-B7ACBF659D1B}"/>
              </a:ext>
            </a:extLst>
          </p:cNvPr>
          <p:cNvSpPr/>
          <p:nvPr/>
        </p:nvSpPr>
        <p:spPr>
          <a:xfrm>
            <a:off x="2489150" y="4907357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前端待办事项管理模块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后端匹配算法模块</a:t>
            </a:r>
            <a:endParaRPr lang="en-US" sz="1200" dirty="0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043CEBB9-CDDD-F6F8-4293-9861CBC806DA}"/>
              </a:ext>
            </a:extLst>
          </p:cNvPr>
          <p:cNvSpPr/>
          <p:nvPr/>
        </p:nvSpPr>
        <p:spPr>
          <a:xfrm>
            <a:off x="2526619" y="4311438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前端智能任务分解模块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前端合并任务分解模块</a:t>
            </a:r>
            <a:endParaRPr lang="en-US" sz="12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798C471F-855B-193E-8545-09EEE14B848D}"/>
              </a:ext>
            </a:extLst>
          </p:cNvPr>
          <p:cNvSpPr/>
          <p:nvPr/>
        </p:nvSpPr>
        <p:spPr>
          <a:xfrm>
            <a:off x="2526619" y="3181109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前端注册登录模块</a:t>
            </a:r>
            <a:r>
              <a:rPr lang="en-US" altLang="zh-CN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, </a:t>
            </a:r>
            <a:r>
              <a:rPr lang="zh-CN" altLang="en-US" sz="12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前端合并聊天模块</a:t>
            </a:r>
            <a:endParaRPr lang="en-US" sz="1200" dirty="0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8B6E5AEA-B4ED-CD1B-5E28-CD70B63BF48D}"/>
              </a:ext>
            </a:extLst>
          </p:cNvPr>
          <p:cNvSpPr/>
          <p:nvPr/>
        </p:nvSpPr>
        <p:spPr>
          <a:xfrm>
            <a:off x="1066800" y="4914900"/>
            <a:ext cx="4909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章鸿晨</a:t>
            </a:r>
            <a:endParaRPr lang="en-US" sz="1200" dirty="0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48CFF626-D9D0-CDD3-F7E2-3A99BB3183A1}"/>
              </a:ext>
            </a:extLst>
          </p:cNvPr>
          <p:cNvSpPr/>
          <p:nvPr/>
        </p:nvSpPr>
        <p:spPr>
          <a:xfrm>
            <a:off x="1066800" y="5486400"/>
            <a:ext cx="4913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杨子贤</a:t>
            </a:r>
            <a:endParaRPr lang="en-US" sz="1200" dirty="0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934E116F-6BC9-D0C6-1BDC-72ABDA111B71}"/>
              </a:ext>
            </a:extLst>
          </p:cNvPr>
          <p:cNvSpPr/>
          <p:nvPr/>
        </p:nvSpPr>
        <p:spPr>
          <a:xfrm>
            <a:off x="6424761" y="2609850"/>
            <a:ext cx="4909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洪淳衔</a:t>
            </a:r>
            <a:endParaRPr lang="en-US" sz="1200" dirty="0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0252275C-C3D4-D1B7-6F4B-0163A5528F95}"/>
              </a:ext>
            </a:extLst>
          </p:cNvPr>
          <p:cNvSpPr/>
          <p:nvPr/>
        </p:nvSpPr>
        <p:spPr>
          <a:xfrm>
            <a:off x="6424761" y="3181350"/>
            <a:ext cx="4913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姚敏聪</a:t>
            </a:r>
            <a:endParaRPr lang="en-US" sz="1200" dirty="0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171B360E-2582-178E-FB5F-A0743E6021CA}"/>
              </a:ext>
            </a:extLst>
          </p:cNvPr>
          <p:cNvSpPr/>
          <p:nvPr/>
        </p:nvSpPr>
        <p:spPr>
          <a:xfrm>
            <a:off x="6424761" y="3752850"/>
            <a:ext cx="4934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周宇烨</a:t>
            </a:r>
            <a:endParaRPr lang="en-US" sz="120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32CFFB4F-7F16-8B0F-3E37-A8D8744A162E}"/>
              </a:ext>
            </a:extLst>
          </p:cNvPr>
          <p:cNvSpPr/>
          <p:nvPr/>
        </p:nvSpPr>
        <p:spPr>
          <a:xfrm>
            <a:off x="6424761" y="4324350"/>
            <a:ext cx="5066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阮佳誉</a:t>
            </a:r>
            <a:endParaRPr lang="en-US" sz="1200" dirty="0"/>
          </a:p>
        </p:txBody>
      </p:sp>
      <p:sp>
        <p:nvSpPr>
          <p:cNvPr id="76" name="Text 5">
            <a:extLst>
              <a:ext uri="{FF2B5EF4-FFF2-40B4-BE49-F238E27FC236}">
                <a16:creationId xmlns:a16="http://schemas.microsoft.com/office/drawing/2014/main" id="{0AF64878-9ABF-185E-D394-96F2E316E786}"/>
              </a:ext>
            </a:extLst>
          </p:cNvPr>
          <p:cNvSpPr/>
          <p:nvPr/>
        </p:nvSpPr>
        <p:spPr>
          <a:xfrm>
            <a:off x="6424761" y="4895850"/>
            <a:ext cx="4909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于昊成</a:t>
            </a:r>
            <a:endParaRPr lang="en-US" sz="1200" dirty="0"/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48BC0FC1-B54B-BBD0-32C4-364E1107385C}"/>
              </a:ext>
            </a:extLst>
          </p:cNvPr>
          <p:cNvSpPr/>
          <p:nvPr/>
        </p:nvSpPr>
        <p:spPr>
          <a:xfrm>
            <a:off x="6424761" y="5467350"/>
            <a:ext cx="4913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杨智鋐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3305" y="423863"/>
            <a:ext cx="9417695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09750"/>
            <a:ext cx="2743200" cy="2438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2038350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6888" y="2228850"/>
            <a:ext cx="428625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019425"/>
            <a:ext cx="762000" cy="19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1924050"/>
            <a:ext cx="2743200" cy="2209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2152650"/>
            <a:ext cx="7620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4550" y="234315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0" y="3019425"/>
            <a:ext cx="7620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9200" y="1924050"/>
            <a:ext cx="2743200" cy="2209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215265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96488" y="2343150"/>
            <a:ext cx="4286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705350"/>
            <a:ext cx="10972800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924425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20550" y="6610350"/>
            <a:ext cx="114300" cy="190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38125"/>
            <a:ext cx="223188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预期计划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609600" y="116205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根据系统设计说明书和数据库设计说明书，我们制定了以下开发计划：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524000" y="295275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模块开发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838200" y="3333750"/>
            <a:ext cx="228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根据系统设计说明书和数据库设计说明书，每个成员分别开发各自负责的模块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5638800" y="306705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模块合并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4953000" y="344805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将各个成员开发的模块进行整合，确保各功能模块能够协同工作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9753600" y="306705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上线部署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9067800" y="344805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使用内网穿透工具将整合好的项目部署上线，确保外部可访问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990600" y="4895850"/>
            <a:ext cx="1059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预期计划要点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819150" y="5200650"/>
            <a:ext cx="107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确保每个模块符合系统设计说明书的功能与接口要求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819150" y="5505450"/>
            <a:ext cx="107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模块合并过程中进行充分的集成测试，确保功能正常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819150" y="5810250"/>
            <a:ext cx="107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内网穿透工具选择稳定可靠的方案，保证项目可访问性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11367790" y="65532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12077700" y="663892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423863"/>
            <a:ext cx="7505700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62050"/>
            <a:ext cx="109728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24050"/>
            <a:ext cx="10972800" cy="394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034" y="20193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076450"/>
            <a:ext cx="10648950" cy="36195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238125"/>
            <a:ext cx="45262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项目实际进度曲线燃尽图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990600" y="1314450"/>
            <a:ext cx="1066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6" name="Text 2"/>
          <p:cNvSpPr/>
          <p:nvPr/>
        </p:nvSpPr>
        <p:spPr>
          <a:xfrm>
            <a:off x="10587484" y="2000250"/>
            <a:ext cx="12167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项目进度跟踪</a:t>
            </a:r>
            <a:endParaRPr lang="en-US" sz="1050" dirty="0"/>
          </a:p>
        </p:txBody>
      </p:sp>
      <p:sp>
        <p:nvSpPr>
          <p:cNvPr id="17" name="Text 3"/>
          <p:cNvSpPr/>
          <p:nvPr/>
        </p:nvSpPr>
        <p:spPr>
          <a:xfrm>
            <a:off x="5010150" y="60198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8" name="Text 4"/>
          <p:cNvSpPr/>
          <p:nvPr/>
        </p:nvSpPr>
        <p:spPr>
          <a:xfrm>
            <a:off x="6076950" y="60198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9" name="Text 5"/>
          <p:cNvSpPr/>
          <p:nvPr/>
        </p:nvSpPr>
        <p:spPr>
          <a:xfrm>
            <a:off x="7143750" y="6019800"/>
            <a:ext cx="320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0" name="Text 6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  <p:sp>
        <p:nvSpPr>
          <p:cNvPr id="21" name="Text 7"/>
          <p:cNvSpPr/>
          <p:nvPr/>
        </p:nvSpPr>
        <p:spPr>
          <a:xfrm>
            <a:off x="11367790" y="65532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2" name="Text 8"/>
          <p:cNvSpPr/>
          <p:nvPr/>
        </p:nvSpPr>
        <p:spPr>
          <a:xfrm>
            <a:off x="11442650" y="6610350"/>
            <a:ext cx="899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1EB6F45-2734-E97F-FCCD-AD6E4EEC79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297" y="1971673"/>
            <a:ext cx="10975153" cy="3886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905" y="423863"/>
            <a:ext cx="8046095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62050"/>
            <a:ext cx="4933950" cy="2095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352550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1447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2288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253365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28384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4550" y="1695450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325" y="17907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475" y="2114550"/>
            <a:ext cx="1905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1162050"/>
            <a:ext cx="4933950" cy="2095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38950" y="135255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3250" y="144780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38950" y="2190750"/>
            <a:ext cx="455295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91350" y="238125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38245" y="238125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19009" y="238125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38950" y="286702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3638550"/>
            <a:ext cx="4933950" cy="2400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3829050"/>
            <a:ext cx="34290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5350" y="39243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0600" y="47053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0600" y="501015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0600" y="5314950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4550" y="4324350"/>
            <a:ext cx="34290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325" y="441960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86475" y="4743450"/>
            <a:ext cx="1905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48450" y="3638550"/>
            <a:ext cx="4933950" cy="2400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38950" y="3829050"/>
            <a:ext cx="342900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934200" y="39243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38950" y="4667250"/>
            <a:ext cx="4552950" cy="838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91350" y="4857750"/>
            <a:ext cx="1333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991350" y="5162550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38950" y="5648325"/>
            <a:ext cx="152400" cy="1524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381000" y="238125"/>
            <a:ext cx="387780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遇到的问题和解决</a:t>
            </a:r>
            <a:endParaRPr lang="en-US" sz="2700" dirty="0"/>
          </a:p>
        </p:txBody>
      </p:sp>
      <p:sp>
        <p:nvSpPr>
          <p:cNvPr id="39" name="Text 1"/>
          <p:cNvSpPr/>
          <p:nvPr/>
        </p:nvSpPr>
        <p:spPr>
          <a:xfrm>
            <a:off x="1257300" y="139065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架构选择问题</a:t>
            </a:r>
            <a:endParaRPr lang="en-US" sz="1500" dirty="0"/>
          </a:p>
        </p:txBody>
      </p:sp>
      <p:sp>
        <p:nvSpPr>
          <p:cNvPr id="40" name="Text 2"/>
          <p:cNvSpPr/>
          <p:nvPr/>
        </p:nvSpPr>
        <p:spPr>
          <a:xfrm>
            <a:off x="800100" y="1847850"/>
            <a:ext cx="5463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原本计划使用 Vue3 + Flask 进行开发，但面临以下挑战：</a:t>
            </a:r>
            <a:endParaRPr lang="en-US" sz="1200" dirty="0"/>
          </a:p>
        </p:txBody>
      </p:sp>
      <p:sp>
        <p:nvSpPr>
          <p:cNvPr id="41" name="Text 3"/>
          <p:cNvSpPr/>
          <p:nvPr/>
        </p:nvSpPr>
        <p:spPr>
          <a:xfrm>
            <a:off x="1219200" y="219075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时间紧张，学习曲线陡峭</a:t>
            </a:r>
            <a:endParaRPr lang="en-US" sz="1200" dirty="0"/>
          </a:p>
        </p:txBody>
      </p:sp>
      <p:sp>
        <p:nvSpPr>
          <p:cNvPr id="42" name="Text 4"/>
          <p:cNvSpPr/>
          <p:nvPr/>
        </p:nvSpPr>
        <p:spPr>
          <a:xfrm>
            <a:off x="1257300" y="24955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团队成员任务繁重</a:t>
            </a:r>
            <a:endParaRPr lang="en-US" sz="1200" dirty="0"/>
          </a:p>
        </p:txBody>
      </p:sp>
      <p:sp>
        <p:nvSpPr>
          <p:cNvPr id="43" name="Text 5"/>
          <p:cNvSpPr/>
          <p:nvPr/>
        </p:nvSpPr>
        <p:spPr>
          <a:xfrm>
            <a:off x="1219200" y="28003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后期上线部署复杂</a:t>
            </a:r>
            <a:endParaRPr lang="en-US" sz="1200" dirty="0"/>
          </a:p>
        </p:txBody>
      </p:sp>
      <p:sp>
        <p:nvSpPr>
          <p:cNvPr id="44" name="Text 6"/>
          <p:cNvSpPr/>
          <p:nvPr/>
        </p:nvSpPr>
        <p:spPr>
          <a:xfrm>
            <a:off x="7296150" y="139065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解决方案</a:t>
            </a:r>
            <a:endParaRPr lang="en-US" sz="1500" dirty="0"/>
          </a:p>
        </p:txBody>
      </p:sp>
      <p:sp>
        <p:nvSpPr>
          <p:cNvPr id="45" name="Text 7"/>
          <p:cNvSpPr/>
          <p:nvPr/>
        </p:nvSpPr>
        <p:spPr>
          <a:xfrm>
            <a:off x="6838950" y="1847850"/>
            <a:ext cx="455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改为使用：</a:t>
            </a:r>
            <a:endParaRPr lang="en-US" sz="1200" dirty="0"/>
          </a:p>
        </p:txBody>
      </p:sp>
      <p:sp>
        <p:nvSpPr>
          <p:cNvPr id="46" name="Text 8"/>
          <p:cNvSpPr/>
          <p:nvPr/>
        </p:nvSpPr>
        <p:spPr>
          <a:xfrm>
            <a:off x="7296150" y="234315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原生三件套</a:t>
            </a:r>
            <a:endParaRPr lang="en-US" sz="1200" dirty="0"/>
          </a:p>
        </p:txBody>
      </p:sp>
      <p:sp>
        <p:nvSpPr>
          <p:cNvPr id="47" name="Text 9"/>
          <p:cNvSpPr/>
          <p:nvPr/>
        </p:nvSpPr>
        <p:spPr>
          <a:xfrm>
            <a:off x="8134350" y="2343150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</a:t>
            </a:r>
            <a:endParaRPr lang="en-US" sz="1200" dirty="0"/>
          </a:p>
        </p:txBody>
      </p:sp>
      <p:sp>
        <p:nvSpPr>
          <p:cNvPr id="48" name="Text 10"/>
          <p:cNvSpPr/>
          <p:nvPr/>
        </p:nvSpPr>
        <p:spPr>
          <a:xfrm>
            <a:off x="8547795" y="2343150"/>
            <a:ext cx="4693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Flask</a:t>
            </a:r>
            <a:endParaRPr lang="en-US" sz="1200" dirty="0"/>
          </a:p>
        </p:txBody>
      </p:sp>
      <p:sp>
        <p:nvSpPr>
          <p:cNvPr id="49" name="Text 11"/>
          <p:cNvSpPr/>
          <p:nvPr/>
        </p:nvSpPr>
        <p:spPr>
          <a:xfrm>
            <a:off x="9015115" y="2343150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</a:t>
            </a:r>
            <a:endParaRPr lang="en-US" sz="1200" dirty="0"/>
          </a:p>
        </p:txBody>
      </p:sp>
      <p:sp>
        <p:nvSpPr>
          <p:cNvPr id="50" name="Text 12"/>
          <p:cNvSpPr/>
          <p:nvPr/>
        </p:nvSpPr>
        <p:spPr>
          <a:xfrm>
            <a:off x="9428559" y="2343150"/>
            <a:ext cx="7268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本地Dify</a:t>
            </a:r>
            <a:endParaRPr lang="en-US" sz="1200" dirty="0"/>
          </a:p>
        </p:txBody>
      </p:sp>
      <p:sp>
        <p:nvSpPr>
          <p:cNvPr id="51" name="Text 13"/>
          <p:cNvSpPr/>
          <p:nvPr/>
        </p:nvSpPr>
        <p:spPr>
          <a:xfrm>
            <a:off x="7067550" y="2838450"/>
            <a:ext cx="5463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简化了开发流程，提高了部署效率</a:t>
            </a:r>
            <a:endParaRPr lang="en-US" sz="1200" dirty="0"/>
          </a:p>
        </p:txBody>
      </p:sp>
      <p:sp>
        <p:nvSpPr>
          <p:cNvPr id="52" name="Text 14"/>
          <p:cNvSpPr/>
          <p:nvPr/>
        </p:nvSpPr>
        <p:spPr>
          <a:xfrm>
            <a:off x="1257300" y="386715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任务分解与匹配问题</a:t>
            </a:r>
            <a:endParaRPr lang="en-US" sz="1500" dirty="0"/>
          </a:p>
        </p:txBody>
      </p:sp>
      <p:sp>
        <p:nvSpPr>
          <p:cNvPr id="53" name="Text 15"/>
          <p:cNvSpPr/>
          <p:nvPr/>
        </p:nvSpPr>
        <p:spPr>
          <a:xfrm>
            <a:off x="800100" y="4324350"/>
            <a:ext cx="455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团队面临任务分配难题：</a:t>
            </a:r>
            <a:endParaRPr lang="en-US" sz="1200" dirty="0"/>
          </a:p>
        </p:txBody>
      </p:sp>
      <p:sp>
        <p:nvSpPr>
          <p:cNvPr id="54" name="Text 16"/>
          <p:cNvSpPr/>
          <p:nvPr/>
        </p:nvSpPr>
        <p:spPr>
          <a:xfrm>
            <a:off x="1219200" y="466725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任务粒度划分</a:t>
            </a:r>
            <a:endParaRPr lang="en-US" sz="1200" dirty="0"/>
          </a:p>
        </p:txBody>
      </p:sp>
      <p:sp>
        <p:nvSpPr>
          <p:cNvPr id="55" name="Text 17"/>
          <p:cNvSpPr/>
          <p:nvPr/>
        </p:nvSpPr>
        <p:spPr>
          <a:xfrm>
            <a:off x="1257300" y="49720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团队成员技能匹配</a:t>
            </a:r>
            <a:endParaRPr lang="en-US" sz="1200" dirty="0"/>
          </a:p>
        </p:txBody>
      </p:sp>
      <p:sp>
        <p:nvSpPr>
          <p:cNvPr id="56" name="Text 18"/>
          <p:cNvSpPr/>
          <p:nvPr/>
        </p:nvSpPr>
        <p:spPr>
          <a:xfrm>
            <a:off x="1257300" y="527685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工作量平衡</a:t>
            </a:r>
            <a:endParaRPr lang="en-US" sz="1200" dirty="0"/>
          </a:p>
        </p:txBody>
      </p:sp>
      <p:sp>
        <p:nvSpPr>
          <p:cNvPr id="57" name="Text 19"/>
          <p:cNvSpPr/>
          <p:nvPr/>
        </p:nvSpPr>
        <p:spPr>
          <a:xfrm>
            <a:off x="7296150" y="386715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解决方案</a:t>
            </a:r>
            <a:endParaRPr lang="en-US" sz="1500" dirty="0"/>
          </a:p>
        </p:txBody>
      </p:sp>
      <p:sp>
        <p:nvSpPr>
          <p:cNvPr id="58" name="Text 20"/>
          <p:cNvSpPr/>
          <p:nvPr/>
        </p:nvSpPr>
        <p:spPr>
          <a:xfrm>
            <a:off x="6838950" y="4324350"/>
            <a:ext cx="455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采用多轮考虑的匹配算法：</a:t>
            </a:r>
            <a:endParaRPr lang="en-US" sz="1200" dirty="0"/>
          </a:p>
        </p:txBody>
      </p:sp>
      <p:sp>
        <p:nvSpPr>
          <p:cNvPr id="59" name="Text 21"/>
          <p:cNvSpPr/>
          <p:nvPr/>
        </p:nvSpPr>
        <p:spPr>
          <a:xfrm>
            <a:off x="7200900" y="481965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直接调取成员技术栈信息</a:t>
            </a:r>
            <a:endParaRPr lang="en-US" sz="1200" dirty="0"/>
          </a:p>
        </p:txBody>
      </p:sp>
      <p:sp>
        <p:nvSpPr>
          <p:cNvPr id="60" name="Text 22"/>
          <p:cNvSpPr/>
          <p:nvPr/>
        </p:nvSpPr>
        <p:spPr>
          <a:xfrm>
            <a:off x="7219950" y="5124450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利用思考大模型得出最优匹配结果</a:t>
            </a:r>
            <a:endParaRPr lang="en-US" sz="1200" dirty="0"/>
          </a:p>
        </p:txBody>
      </p:sp>
      <p:sp>
        <p:nvSpPr>
          <p:cNvPr id="61" name="Text 23"/>
          <p:cNvSpPr/>
          <p:nvPr/>
        </p:nvSpPr>
        <p:spPr>
          <a:xfrm>
            <a:off x="7067550" y="5619750"/>
            <a:ext cx="5463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提高了任务分配效率和团队协作效果</a:t>
            </a:r>
            <a:endParaRPr lang="en-US" sz="1200" dirty="0"/>
          </a:p>
        </p:txBody>
      </p:sp>
      <p:sp>
        <p:nvSpPr>
          <p:cNvPr id="62" name="Text 24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878" y="2417915"/>
            <a:ext cx="10972800" cy="39052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005" y="423863"/>
            <a:ext cx="8388995" cy="9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368" y="1593089"/>
            <a:ext cx="243840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818" y="1745489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693" y="1878839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68" y="2764664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68" y="2993264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8419" y="1560665"/>
            <a:ext cx="2438400" cy="1714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1869" y="1713065"/>
            <a:ext cx="571500" cy="571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9312" y="3381375"/>
            <a:ext cx="2438400" cy="1714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3319" y="184641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0819" y="273224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0819" y="296084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9542" y="1593089"/>
            <a:ext cx="2438400" cy="1714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2992" y="1745489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4442" y="1878839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942" y="2764664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942" y="2993264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6900" y="3385289"/>
            <a:ext cx="2438400" cy="1714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00350" y="3537689"/>
            <a:ext cx="571500" cy="571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43225" y="3671039"/>
            <a:ext cx="28575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9300" y="4556864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9300" y="4785464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2762" y="3533775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94212" y="3667125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1712" y="4552950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1712" y="4781550"/>
            <a:ext cx="1333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638800"/>
            <a:ext cx="10972800" cy="800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61341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68701" y="61341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75550" y="61341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020550" y="6610350"/>
            <a:ext cx="114300" cy="1905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238125"/>
            <a:ext cx="346632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项目的实际架构</a:t>
            </a:r>
            <a:endParaRPr lang="en-US" sz="2700" dirty="0"/>
          </a:p>
        </p:txBody>
      </p:sp>
      <p:sp>
        <p:nvSpPr>
          <p:cNvPr id="37" name="Text 1"/>
          <p:cNvSpPr/>
          <p:nvPr/>
        </p:nvSpPr>
        <p:spPr>
          <a:xfrm>
            <a:off x="609600" y="108585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前后端采用原生三件套+Flask+本地Dify，部署为本地运行+内网穿透（cpolar免费版）</a:t>
            </a:r>
            <a:endParaRPr lang="en-US" sz="1350" dirty="0"/>
          </a:p>
        </p:txBody>
      </p:sp>
      <p:sp>
        <p:nvSpPr>
          <p:cNvPr id="38" name="Text 2"/>
          <p:cNvSpPr/>
          <p:nvPr/>
        </p:nvSpPr>
        <p:spPr>
          <a:xfrm>
            <a:off x="1785168" y="2393189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前端</a:t>
            </a:r>
            <a:endParaRPr lang="en-US" sz="1200" dirty="0"/>
          </a:p>
        </p:txBody>
      </p:sp>
      <p:sp>
        <p:nvSpPr>
          <p:cNvPr id="39" name="Text 3"/>
          <p:cNvSpPr/>
          <p:nvPr/>
        </p:nvSpPr>
        <p:spPr>
          <a:xfrm>
            <a:off x="1080318" y="2736089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原生三件套</a:t>
            </a:r>
            <a:endParaRPr lang="en-US" sz="1050" dirty="0"/>
          </a:p>
        </p:txBody>
      </p:sp>
      <p:sp>
        <p:nvSpPr>
          <p:cNvPr id="40" name="Text 4"/>
          <p:cNvSpPr/>
          <p:nvPr/>
        </p:nvSpPr>
        <p:spPr>
          <a:xfrm>
            <a:off x="1080318" y="2964689"/>
            <a:ext cx="11329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Vue.js (简化版)</a:t>
            </a:r>
            <a:endParaRPr lang="en-US" sz="1050" dirty="0"/>
          </a:p>
        </p:txBody>
      </p:sp>
      <p:sp>
        <p:nvSpPr>
          <p:cNvPr id="41" name="Text 5"/>
          <p:cNvSpPr/>
          <p:nvPr/>
        </p:nvSpPr>
        <p:spPr>
          <a:xfrm>
            <a:off x="9605219" y="2360765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后端</a:t>
            </a:r>
            <a:endParaRPr lang="en-US" sz="1200" dirty="0"/>
          </a:p>
        </p:txBody>
      </p:sp>
      <p:sp>
        <p:nvSpPr>
          <p:cNvPr id="42" name="Text 6"/>
          <p:cNvSpPr/>
          <p:nvPr/>
        </p:nvSpPr>
        <p:spPr>
          <a:xfrm>
            <a:off x="8900369" y="2703665"/>
            <a:ext cx="73080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Flask框架</a:t>
            </a:r>
            <a:endParaRPr lang="en-US" sz="1050" dirty="0"/>
          </a:p>
        </p:txBody>
      </p:sp>
      <p:sp>
        <p:nvSpPr>
          <p:cNvPr id="43" name="Text 7"/>
          <p:cNvSpPr/>
          <p:nvPr/>
        </p:nvSpPr>
        <p:spPr>
          <a:xfrm>
            <a:off x="8900369" y="2932265"/>
            <a:ext cx="9560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本地Dify服务</a:t>
            </a:r>
            <a:endParaRPr lang="en-US" sz="1050" dirty="0"/>
          </a:p>
        </p:txBody>
      </p:sp>
      <p:sp>
        <p:nvSpPr>
          <p:cNvPr id="44" name="Text 8"/>
          <p:cNvSpPr/>
          <p:nvPr/>
        </p:nvSpPr>
        <p:spPr>
          <a:xfrm>
            <a:off x="5676548" y="2393189"/>
            <a:ext cx="4132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Dify</a:t>
            </a:r>
            <a:endParaRPr lang="en-US" sz="1200" dirty="0"/>
          </a:p>
        </p:txBody>
      </p:sp>
      <p:sp>
        <p:nvSpPr>
          <p:cNvPr id="45" name="Text 9"/>
          <p:cNvSpPr/>
          <p:nvPr/>
        </p:nvSpPr>
        <p:spPr>
          <a:xfrm>
            <a:off x="4991492" y="2736089"/>
            <a:ext cx="73330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工作流API</a:t>
            </a:r>
            <a:endParaRPr lang="en-US" sz="1050" dirty="0"/>
          </a:p>
        </p:txBody>
      </p:sp>
      <p:sp>
        <p:nvSpPr>
          <p:cNvPr id="46" name="Text 10"/>
          <p:cNvSpPr/>
          <p:nvPr/>
        </p:nvSpPr>
        <p:spPr>
          <a:xfrm>
            <a:off x="4991492" y="2964689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本地运行</a:t>
            </a:r>
            <a:endParaRPr lang="en-US" sz="1050" dirty="0"/>
          </a:p>
        </p:txBody>
      </p:sp>
      <p:sp>
        <p:nvSpPr>
          <p:cNvPr id="47" name="Text 11"/>
          <p:cNvSpPr/>
          <p:nvPr/>
        </p:nvSpPr>
        <p:spPr>
          <a:xfrm>
            <a:off x="2781300" y="4185389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2228850" y="4528289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本地运行</a:t>
            </a:r>
            <a:endParaRPr lang="en-US" sz="1050" dirty="0"/>
          </a:p>
        </p:txBody>
      </p:sp>
      <p:sp>
        <p:nvSpPr>
          <p:cNvPr id="49" name="Text 13"/>
          <p:cNvSpPr/>
          <p:nvPr/>
        </p:nvSpPr>
        <p:spPr>
          <a:xfrm>
            <a:off x="2228850" y="4756889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内网穿透</a:t>
            </a:r>
            <a:endParaRPr lang="en-US" sz="1050" dirty="0"/>
          </a:p>
        </p:txBody>
      </p:sp>
      <p:sp>
        <p:nvSpPr>
          <p:cNvPr id="50" name="Text 14"/>
          <p:cNvSpPr/>
          <p:nvPr/>
        </p:nvSpPr>
        <p:spPr>
          <a:xfrm>
            <a:off x="8303712" y="418147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内网穿透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7751262" y="4524375"/>
            <a:ext cx="8158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cpolar工具</a:t>
            </a:r>
            <a:endParaRPr lang="en-US" sz="1050" dirty="0"/>
          </a:p>
        </p:txBody>
      </p:sp>
      <p:sp>
        <p:nvSpPr>
          <p:cNvPr id="52" name="Text 16"/>
          <p:cNvSpPr/>
          <p:nvPr/>
        </p:nvSpPr>
        <p:spPr>
          <a:xfrm>
            <a:off x="7751262" y="4752975"/>
            <a:ext cx="11822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免费版 (1Mbps)</a:t>
            </a:r>
            <a:endParaRPr lang="en-US" sz="1050" dirty="0"/>
          </a:p>
        </p:txBody>
      </p:sp>
      <p:sp>
        <p:nvSpPr>
          <p:cNvPr id="53" name="Text 17"/>
          <p:cNvSpPr/>
          <p:nvPr/>
        </p:nvSpPr>
        <p:spPr>
          <a:xfrm>
            <a:off x="762000" y="5791200"/>
            <a:ext cx="1066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架构优势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990600" y="6096000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简化部署流程</a:t>
            </a:r>
            <a:endParaRPr lang="en-US" sz="1050" dirty="0"/>
          </a:p>
        </p:txBody>
      </p:sp>
      <p:sp>
        <p:nvSpPr>
          <p:cNvPr id="55" name="Text 19"/>
          <p:cNvSpPr/>
          <p:nvPr/>
        </p:nvSpPr>
        <p:spPr>
          <a:xfrm>
            <a:off x="4597301" y="60960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本地化运行，数据安全</a:t>
            </a:r>
            <a:endParaRPr lang="en-US" sz="1050" dirty="0"/>
          </a:p>
        </p:txBody>
      </p:sp>
      <p:sp>
        <p:nvSpPr>
          <p:cNvPr id="56" name="Text 20"/>
          <p:cNvSpPr/>
          <p:nvPr/>
        </p:nvSpPr>
        <p:spPr>
          <a:xfrm>
            <a:off x="8204150" y="60960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免费方案满足基本需求</a:t>
            </a:r>
            <a:endParaRPr lang="en-US" sz="1050" dirty="0"/>
          </a:p>
        </p:txBody>
      </p:sp>
      <p:sp>
        <p:nvSpPr>
          <p:cNvPr id="57" name="Text 21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  <p:sp>
        <p:nvSpPr>
          <p:cNvPr id="58" name="Text 22"/>
          <p:cNvSpPr/>
          <p:nvPr/>
        </p:nvSpPr>
        <p:spPr>
          <a:xfrm>
            <a:off x="11367790" y="65532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9" name="Text 23"/>
          <p:cNvSpPr/>
          <p:nvPr/>
        </p:nvSpPr>
        <p:spPr>
          <a:xfrm>
            <a:off x="12077700" y="663892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205" y="423863"/>
            <a:ext cx="9074795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00150"/>
            <a:ext cx="1428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581150"/>
            <a:ext cx="10972800" cy="95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650" y="1895475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100" y="2028825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3050" y="1895475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5925" y="2028825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7450" y="1895475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0288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1850" y="1895475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53300" y="2028825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190875"/>
            <a:ext cx="537210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381375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190875"/>
            <a:ext cx="537210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381375"/>
            <a:ext cx="2190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410075"/>
            <a:ext cx="5372100" cy="990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4600575"/>
            <a:ext cx="2190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4410075"/>
            <a:ext cx="537210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600575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020550" y="6610350"/>
            <a:ext cx="11430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238125"/>
            <a:ext cx="264336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项目的测试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828675" y="116205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项目采用原始的手动测试方式验证项目功能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4358640" y="258127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需求验证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5273040" y="258127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功能测试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6187440" y="258127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问题修复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7101840" y="258127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确认验收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1152525" y="3381375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手动功能测试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800100" y="3762375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通过人工操作模拟用户场景，验证系统功能的正确性和完整性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6734175" y="33813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界面测试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400800" y="3762375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检查用户界面的布局、颜色、字体等是否符合设计要求，交互是否自然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1133475" y="46005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输入验证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800100" y="4981575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测试各种合法和非法输入对系统的影响，确保系统稳定性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705600" y="46005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集成测试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6400800" y="4981575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验证各模块合并后的整体功能是否正常，接口交互是否正确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11367790" y="65532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12077700" y="663892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893" y="423863"/>
            <a:ext cx="7473107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62050"/>
            <a:ext cx="109728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24050"/>
            <a:ext cx="355595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07645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2133600"/>
            <a:ext cx="1143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457450"/>
            <a:ext cx="317495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1924050"/>
            <a:ext cx="355595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0350" y="207645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5600" y="2133600"/>
            <a:ext cx="1143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550" y="2476500"/>
            <a:ext cx="3174950" cy="914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6301" y="1924050"/>
            <a:ext cx="3556099" cy="1676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701" y="207645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951" y="2133600"/>
            <a:ext cx="1143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4901" y="2457450"/>
            <a:ext cx="3175099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3752850"/>
            <a:ext cx="3555950" cy="1828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390525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962400"/>
            <a:ext cx="1143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4286250"/>
            <a:ext cx="3174950" cy="1066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17950" y="3752850"/>
            <a:ext cx="3555950" cy="1828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70350" y="39052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5600" y="3962400"/>
            <a:ext cx="1143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6550" y="4286250"/>
            <a:ext cx="3174950" cy="1066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26301" y="3752850"/>
            <a:ext cx="3556099" cy="1828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78701" y="39052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951" y="3962400"/>
            <a:ext cx="1143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4901" y="4286250"/>
            <a:ext cx="3175099" cy="914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020550" y="6610350"/>
            <a:ext cx="114300" cy="1905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238125"/>
            <a:ext cx="456539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 成员的过程体会(1/2)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762000" y="1333500"/>
            <a:ext cx="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1200" dirty="0"/>
          </a:p>
        </p:txBody>
      </p:sp>
      <p:sp>
        <p:nvSpPr>
          <p:cNvPr id="33" name="Text 2"/>
          <p:cNvSpPr/>
          <p:nvPr/>
        </p:nvSpPr>
        <p:spPr>
          <a:xfrm>
            <a:off x="1143000" y="2133600"/>
            <a:ext cx="320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薛刚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1066800" y="2457450"/>
            <a:ext cx="29463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本次冲刺我负责了项目的任务分工，主页面，代办事项，成员界面的前后端模块的整合，以及dify中几个chat-flow搭建、内网穿透工具的使用，我在本次的任务中不仅锻炼到了管理团队的能力、前后端项目的开发，还了解到了项目上线的相关知识，收获颇丰。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4851350" y="2133600"/>
            <a:ext cx="320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汤健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4775150" y="2457450"/>
            <a:ext cx="35356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 </a:t>
            </a:r>
            <a:endParaRPr lang="en-US" sz="900" dirty="0"/>
          </a:p>
        </p:txBody>
      </p:sp>
      <p:sp>
        <p:nvSpPr>
          <p:cNvPr id="37" name="Text 6"/>
          <p:cNvSpPr/>
          <p:nvPr/>
        </p:nvSpPr>
        <p:spPr>
          <a:xfrm>
            <a:off x="4775150" y="2686050"/>
            <a:ext cx="35356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38" name="Text 7"/>
          <p:cNvSpPr/>
          <p:nvPr/>
        </p:nvSpPr>
        <p:spPr>
          <a:xfrm>
            <a:off x="4775150" y="2914650"/>
            <a:ext cx="35356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39" name="Text 8"/>
          <p:cNvSpPr/>
          <p:nvPr/>
        </p:nvSpPr>
        <p:spPr>
          <a:xfrm>
            <a:off x="8559701" y="21336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廖云峻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8483501" y="2457450"/>
            <a:ext cx="294649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参与小组项目时，我负责前端会议处理模块与后端团队管理模块开发。前端需兼顾交互流畅性与用户体验，后端需保障数据安全与接口稳定，过程中我深化了前后端协同思维，学会平衡开发效率与功能完整性。通过与组员沟通对接，我深刻体会到团队协作的重要性，也提升了问题解决与需求落地能力，为后续项目实践积累了宝贵经验。</a:t>
            </a:r>
            <a:endParaRPr lang="en-US" sz="900" dirty="0"/>
          </a:p>
        </p:txBody>
      </p:sp>
      <p:sp>
        <p:nvSpPr>
          <p:cNvPr id="41" name="Text 10"/>
          <p:cNvSpPr/>
          <p:nvPr/>
        </p:nvSpPr>
        <p:spPr>
          <a:xfrm>
            <a:off x="1143000" y="39624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许敬豪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1066800" y="4286250"/>
            <a:ext cx="294635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在开发任务分解模块过程中，我深刻体会到前端与后端API对接的重要性。通过不断调试数据格式和错误处理，确保了前后端数据流畅交互。用户体验方面，合理的表单设计和实时反馈机制大大提升了操作友好性。模块化开发让代码更易维护，响应式设计则保证了多设备兼容性。这次开发让我认识到，良好的用户体验源于对细节的持续优化。</a:t>
            </a:r>
            <a:endParaRPr lang="en-US" sz="900" dirty="0"/>
          </a:p>
        </p:txBody>
      </p:sp>
      <p:sp>
        <p:nvSpPr>
          <p:cNvPr id="43" name="Text 12"/>
          <p:cNvSpPr/>
          <p:nvPr/>
        </p:nvSpPr>
        <p:spPr>
          <a:xfrm>
            <a:off x="4851350" y="39624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章鸿晨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4775150" y="4286250"/>
            <a:ext cx="294635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在这次的开发实践中，我收获颇丰。我设计了基于多维度评分算法的智能匹配引擎，综合考量技术栈匹配度、成员能力评估和工作负载均衡。在这个过程中，我更加体会到前后端协作的紧密关联——统一的接口规范、完善的异常处理机制显著提升了开发效率。特别是在任务分配算法的实现中，前后端数据格式的一致性保证了匹配结果的准确传递。</a:t>
            </a:r>
            <a:endParaRPr lang="en-US" sz="900" dirty="0"/>
          </a:p>
        </p:txBody>
      </p:sp>
      <p:sp>
        <p:nvSpPr>
          <p:cNvPr id="45" name="Text 14"/>
          <p:cNvSpPr/>
          <p:nvPr/>
        </p:nvSpPr>
        <p:spPr>
          <a:xfrm>
            <a:off x="8559701" y="39624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杨子贤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8483501" y="4286250"/>
            <a:ext cx="294649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在本次软件工程实践中，我承担了前端开发、Vlog拍摄和测试三重角色。开发团队成员管理模块时，我深刻体会到前后端联调中接口规范与沟通的重要性；作为Vlog记录者，学会了用镜头捕捉团队协作的闪光点；最后的测试工作则让我认识到细节决定成败。多重身份的锻炼让我对软件工程全流程有了更立体的理解。</a:t>
            </a:r>
            <a:endParaRPr lang="en-US" sz="900" dirty="0"/>
          </a:p>
        </p:txBody>
      </p:sp>
      <p:sp>
        <p:nvSpPr>
          <p:cNvPr id="47" name="Text 16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11282809" y="65532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12077700" y="663892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endParaRPr lang="en-US" sz="9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14AB2AE-9978-186B-DB0F-F268823FE1C0}"/>
              </a:ext>
            </a:extLst>
          </p:cNvPr>
          <p:cNvSpPr txBox="1"/>
          <p:nvPr/>
        </p:nvSpPr>
        <p:spPr>
          <a:xfrm>
            <a:off x="4775150" y="2458357"/>
            <a:ext cx="2762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本次团队作业我负责前端登录注册ui与AI聊天界面开发，既需精准实现用户信息收集与后端数据交互，又要完成模块合并与聊天API对接，充满挑战与收获。这段经历让我深化了前后端协作认知，提升了界面开发与功能整合能力，也体会到团队分工配合的重要性，是一次宝贵的实践成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893" y="423863"/>
            <a:ext cx="7473107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62050"/>
            <a:ext cx="109728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24050"/>
            <a:ext cx="3555950" cy="1828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07645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2133600"/>
            <a:ext cx="1143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457450"/>
            <a:ext cx="317495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1924050"/>
            <a:ext cx="355595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0350" y="207645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5600" y="2133600"/>
            <a:ext cx="1143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550" y="2457450"/>
            <a:ext cx="3174950" cy="106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6301" y="1924050"/>
            <a:ext cx="3556099" cy="1828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701" y="207645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951" y="2133600"/>
            <a:ext cx="1143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4901" y="2457450"/>
            <a:ext cx="3175099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05250"/>
            <a:ext cx="3555950" cy="1828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05765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114800"/>
            <a:ext cx="1143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4438650"/>
            <a:ext cx="317495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3905250"/>
            <a:ext cx="3555950" cy="1828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0350" y="40576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5600" y="4114800"/>
            <a:ext cx="1143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550" y="4438650"/>
            <a:ext cx="3174950" cy="1066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6301" y="3905250"/>
            <a:ext cx="3556099" cy="1828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701" y="40576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951" y="4114800"/>
            <a:ext cx="1143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4901" y="4438650"/>
            <a:ext cx="3175099" cy="7620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238125"/>
            <a:ext cx="456539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 成员的过程体会(2/2)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4337893" y="442913"/>
            <a:ext cx="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1200" dirty="0"/>
          </a:p>
        </p:txBody>
      </p:sp>
      <p:sp>
        <p:nvSpPr>
          <p:cNvPr id="32" name="Text 2"/>
          <p:cNvSpPr/>
          <p:nvPr/>
        </p:nvSpPr>
        <p:spPr>
          <a:xfrm>
            <a:off x="762000" y="1333500"/>
            <a:ext cx="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1143000" y="21336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洪淳衔</a:t>
            </a:r>
            <a:endParaRPr lang="en-US" sz="1050" dirty="0"/>
          </a:p>
        </p:txBody>
      </p:sp>
      <p:sp>
        <p:nvSpPr>
          <p:cNvPr id="34" name="Text 4"/>
          <p:cNvSpPr/>
          <p:nvPr/>
        </p:nvSpPr>
        <p:spPr>
          <a:xfrm>
            <a:off x="1066800" y="2457450"/>
            <a:ext cx="29463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 本次冲刺我主要负责前端 AI 聊天模块和图表展示。过程中从页面搭建到接口联调遇到不少问题，但通过查文档和与队友沟通基本都解决了。看到功能顺利跑通后，对前后端协作有了更直观的认识。</a:t>
            </a:r>
            <a:endParaRPr lang="en-US" sz="900" dirty="0"/>
          </a:p>
        </p:txBody>
      </p:sp>
      <p:sp>
        <p:nvSpPr>
          <p:cNvPr id="35" name="Text 5"/>
          <p:cNvSpPr/>
          <p:nvPr/>
        </p:nvSpPr>
        <p:spPr>
          <a:xfrm>
            <a:off x="1066800" y="315277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900" dirty="0"/>
          </a:p>
        </p:txBody>
      </p:sp>
      <p:sp>
        <p:nvSpPr>
          <p:cNvPr id="36" name="Text 6"/>
          <p:cNvSpPr/>
          <p:nvPr/>
        </p:nvSpPr>
        <p:spPr>
          <a:xfrm>
            <a:off x="1066800" y="338137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endParaRPr lang="en-US" sz="900" dirty="0"/>
          </a:p>
        </p:txBody>
      </p:sp>
      <p:sp>
        <p:nvSpPr>
          <p:cNvPr id="37" name="Text 7"/>
          <p:cNvSpPr/>
          <p:nvPr/>
        </p:nvSpPr>
        <p:spPr>
          <a:xfrm>
            <a:off x="4851350" y="21336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姚敏聪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4775150" y="2457450"/>
            <a:ext cx="294635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本次实践中，我学到了很多，后端注册登录认证需注重数据加密与权限管控，可以搭配密码哈希存储提升安全性；前端合并会议模块则需优化组件复用，解决跨组件状态同步问题。在这个过程中我深刻体会到前后端协作的重要性，接口规范统一、异常处理完善是提升开发效率的关键。后续需进一步优化用户体验，增强系统稳定性与可扩展性。</a:t>
            </a:r>
            <a:endParaRPr lang="en-US" sz="900" dirty="0"/>
          </a:p>
        </p:txBody>
      </p:sp>
      <p:sp>
        <p:nvSpPr>
          <p:cNvPr id="39" name="Text 9"/>
          <p:cNvSpPr/>
          <p:nvPr/>
        </p:nvSpPr>
        <p:spPr>
          <a:xfrm>
            <a:off x="8559701" y="21336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周宇烨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8483501" y="2457450"/>
            <a:ext cx="294649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在后端待办事项管理模块开发中，我聚焦工作函数的逻辑设计与功能实现，反复打磨参数校验、状态流转等核心逻辑，确保模块稳定高效。冲刺答辩 PPT 制作则让我跳出编码，梳理技术亮点与实现思路，将复杂逻辑可视化呈现。过程中既深化了后端开发能力，也提升了总结表达效率，深刻体会到技术落地与清晰呈现的双重价值。</a:t>
            </a:r>
            <a:endParaRPr lang="en-US" sz="900" dirty="0"/>
          </a:p>
        </p:txBody>
      </p:sp>
      <p:sp>
        <p:nvSpPr>
          <p:cNvPr id="41" name="Text 11"/>
          <p:cNvSpPr/>
          <p:nvPr/>
        </p:nvSpPr>
        <p:spPr>
          <a:xfrm>
            <a:off x="1143000" y="41148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阮佳誉</a:t>
            </a: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1066800" y="4438650"/>
            <a:ext cx="29463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通过团队管理模块的开发，我将软件工程理论应用于实践，深刻体会到规范接口与模块化设计对协作的重要性。编写增删接口和评价补丁，锻炼了我的逻辑与严谨性；同时，通过剪辑创作团队Vlog，我从另一个视角理解了敏捷开发中沟通与迭代的价值。这让我明白，优秀的软件不仅是代码，更是团队协作的产物。</a:t>
            </a:r>
            <a:endParaRPr lang="en-US" sz="900" dirty="0"/>
          </a:p>
        </p:txBody>
      </p:sp>
      <p:sp>
        <p:nvSpPr>
          <p:cNvPr id="43" name="Text 13"/>
          <p:cNvSpPr/>
          <p:nvPr/>
        </p:nvSpPr>
        <p:spPr>
          <a:xfrm>
            <a:off x="4851350" y="41148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于昊成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4775150" y="4438650"/>
            <a:ext cx="294635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在这次开发实践中，通过开发任务分解模块，我深刻体会到技术栈匹配与属性权重平衡的重要性。智能算法需兼顾专业技能与团队协作，负载均衡更是提升效率的关键。良好的数据库设计和异常处理让系统更稳定可靠。完成一个任务的计划和总结是必不可少的，通过撰写冲刺计划和总结，让我深刻体会到计划和总结思考对团队任务的重要性。</a:t>
            </a:r>
            <a:endParaRPr lang="en-US" sz="900" dirty="0"/>
          </a:p>
        </p:txBody>
      </p:sp>
      <p:sp>
        <p:nvSpPr>
          <p:cNvPr id="45" name="Text 15"/>
          <p:cNvSpPr/>
          <p:nvPr/>
        </p:nvSpPr>
        <p:spPr>
          <a:xfrm>
            <a:off x="8559701" y="4114800"/>
            <a:ext cx="480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杨智鋐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8483501" y="4438650"/>
            <a:ext cx="2946499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 通过本次代码整合，我深刻体会到模块化设计的重要性。将AI能力封装成独立API客户端，保证了后端业务逻辑的清晰性。四个核心函数分别处理不同AI任务，统一的错误处理和响应格式让前端调用更加稳定。这种分层架构设计既便于维护，也为后续功能扩展留足空间。</a:t>
            </a:r>
            <a:endParaRPr lang="en-US" sz="900" dirty="0"/>
          </a:p>
        </p:txBody>
      </p:sp>
      <p:sp>
        <p:nvSpPr>
          <p:cNvPr id="47" name="Text 17"/>
          <p:cNvSpPr/>
          <p:nvPr/>
        </p:nvSpPr>
        <p:spPr>
          <a:xfrm>
            <a:off x="609600" y="65532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项目汇报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659</Words>
  <Application>Microsoft Office PowerPoint</Application>
  <PresentationFormat>宽屏</PresentationFormat>
  <Paragraphs>166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PingFang SC</vt:lpstr>
      <vt:lpstr>ui-sans-serif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宇烨 周</cp:lastModifiedBy>
  <cp:revision>4</cp:revision>
  <dcterms:created xsi:type="dcterms:W3CDTF">2025-11-28T12:18:19Z</dcterms:created>
  <dcterms:modified xsi:type="dcterms:W3CDTF">2025-11-29T02:13:33Z</dcterms:modified>
</cp:coreProperties>
</file>